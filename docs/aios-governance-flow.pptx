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the chain from a regulation document to a governed column. Orange dashed = not built yet. The loop underneath is pillar 3 — the gap analysis runs against the catalog, and re-runs when the policy or the data changes. Built: obligations, policies (created in chat on approval), standards (CDM derives them from the policy prose). Partial: CDEs are drafted from the kit and CDM discovers the columns, but CDE suggestion from standards is not built. Next: DQ monitors.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2.png"/><Relationship Id="rId8" Type="http://schemas.openxmlformats.org/officeDocument/2006/relationships/image" Target="../media/image-1-5.png"/><Relationship Id="rId9" Type="http://schemas.openxmlformats.org/officeDocument/2006/relationships/image" Target="../media/image-1-4.png"/><Relationship Id="rId10" Type="http://schemas.openxmlformats.org/officeDocument/2006/relationships/image" Target="../media/image-1-2.png"/><Relationship Id="rId11" Type="http://schemas.openxmlformats.org/officeDocument/2006/relationships/image" Target="../media/image-1-4.png"/><Relationship Id="rId12" Type="http://schemas.openxmlformats.org/officeDocument/2006/relationships/image" Target="../media/image-1-12.png"/><Relationship Id="rId13" Type="http://schemas.openxmlformats.org/officeDocument/2006/relationships/image" Target="../media/image-1-2.png"/><Relationship Id="rId14" Type="http://schemas.openxmlformats.org/officeDocument/2006/relationships/image" Target="../media/image-1-5.png"/><Relationship Id="rId15" Type="http://schemas.openxmlformats.org/officeDocument/2006/relationships/image" Target="../media/image-1-4.png"/><Relationship Id="rId16" Type="http://schemas.openxmlformats.org/officeDocument/2006/relationships/image" Target="../media/image-1-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0"/>
            <a:ext cx="0" cy="5166360"/>
          </a:xfrm>
          <a:prstGeom prst="line">
            <a:avLst/>
          </a:prstGeom>
          <a:noFill/>
          <a:ln w="9525">
            <a:solidFill>
              <a:srgbClr val="9FA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94776" y="4608576"/>
            <a:ext cx="0" cy="557784"/>
          </a:xfrm>
          <a:prstGeom prst="line">
            <a:avLst/>
          </a:prstGeom>
          <a:noFill/>
          <a:ln w="9525">
            <a:solidFill>
              <a:srgbClr val="9FA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599432"/>
            <a:ext cx="8494776" cy="0"/>
          </a:xfrm>
          <a:prstGeom prst="line">
            <a:avLst/>
          </a:prstGeom>
          <a:noFill/>
          <a:ln w="9525">
            <a:solidFill>
              <a:srgbClr val="9FA1B2"/>
            </a:solidFill>
            <a:prstDash val="solid"/>
          </a:ln>
        </p:spPr>
      </p:sp>
      <p:pic>
        <p:nvPicPr>
          <p:cNvPr id="5" name="Image 0" descr="assets/logo-serif-footer-sub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773168"/>
            <a:ext cx="77724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31352" y="4736592"/>
            <a:ext cx="612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F9F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755648" y="182880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GOVERNANCE — BCBS 239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43891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F9FB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From regulation to </a:t>
            </a:r>
            <a:pPr algn="ctr" indent="0" marL="0">
              <a:buNone/>
            </a:pPr>
            <a:r>
              <a:rPr lang="en-US" sz="2400" dirty="0">
                <a:solidFill>
                  <a:srgbClr val="FF99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governed column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05256" y="1243584"/>
            <a:ext cx="1463040" cy="1755648"/>
          </a:xfrm>
          <a:prstGeom prst="roundRect">
            <a:avLst>
              <a:gd name="adj" fmla="val 3750"/>
            </a:avLst>
          </a:prstGeom>
          <a:solidFill>
            <a:srgbClr val="1D1D1D"/>
          </a:solidFill>
          <a:ln w="9525">
            <a:solidFill>
              <a:srgbClr val="2A2A32"/>
            </a:solidFill>
            <a:prstDash val="solid"/>
          </a:ln>
        </p:spPr>
      </p:sp>
      <p:pic>
        <p:nvPicPr>
          <p:cNvPr id="10" name="Image 1" descr="icons/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142646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6696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9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Obligations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6696" y="200253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Reads the regulation,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proposes one obligation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 principle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996696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0D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BUILT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392070" y="2121408"/>
            <a:ext cx="94183" cy="0"/>
          </a:xfrm>
          <a:prstGeom prst="line">
            <a:avLst/>
          </a:prstGeom>
          <a:noFill/>
          <a:ln w="12700">
            <a:solidFill>
              <a:srgbClr val="9FA1B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510028" y="1243584"/>
            <a:ext cx="1463040" cy="1755648"/>
          </a:xfrm>
          <a:prstGeom prst="roundRect">
            <a:avLst>
              <a:gd name="adj" fmla="val 3750"/>
            </a:avLst>
          </a:prstGeom>
          <a:solidFill>
            <a:srgbClr val="1D1D1D"/>
          </a:solidFill>
          <a:ln w="9525">
            <a:solidFill>
              <a:srgbClr val="2A2A32"/>
            </a:solidFill>
            <a:prstDash val="solid"/>
          </a:ln>
        </p:spPr>
      </p:sp>
      <p:pic>
        <p:nvPicPr>
          <p:cNvPr id="16" name="Image 2" descr="icons/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26464"/>
            <a:ext cx="182880" cy="182880"/>
          </a:xfrm>
          <a:prstGeom prst="rect">
            <a:avLst/>
          </a:prstGeom>
        </p:spPr>
      </p:pic>
      <p:pic>
        <p:nvPicPr>
          <p:cNvPr id="17" name="Image 3" descr="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42646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01468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9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601468" y="200253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Writes the bodies and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creates them in chat,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 approval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2601468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0D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BUILT</a:t>
            </a:r>
            <a:endParaRPr lang="en-US" sz="650" dirty="0"/>
          </a:p>
        </p:txBody>
      </p:sp>
      <p:sp>
        <p:nvSpPr>
          <p:cNvPr id="21" name="Shape 15"/>
          <p:cNvSpPr/>
          <p:nvPr/>
        </p:nvSpPr>
        <p:spPr>
          <a:xfrm>
            <a:off x="3996842" y="2121408"/>
            <a:ext cx="94183" cy="0"/>
          </a:xfrm>
          <a:prstGeom prst="line">
            <a:avLst/>
          </a:prstGeom>
          <a:noFill/>
          <a:ln w="12700">
            <a:solidFill>
              <a:srgbClr val="9FA1B2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4114800" y="1243584"/>
            <a:ext cx="1463040" cy="1755648"/>
          </a:xfrm>
          <a:prstGeom prst="roundRect">
            <a:avLst>
              <a:gd name="adj" fmla="val 3750"/>
            </a:avLst>
          </a:prstGeom>
          <a:solidFill>
            <a:srgbClr val="1D1D1D"/>
          </a:solidFill>
          <a:ln w="9525">
            <a:solidFill>
              <a:srgbClr val="2A2A32"/>
            </a:solidFill>
            <a:prstDash val="solid"/>
          </a:ln>
        </p:spPr>
      </p:sp>
      <p:pic>
        <p:nvPicPr>
          <p:cNvPr id="23" name="Image 4" descr="icons/spark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1426464"/>
            <a:ext cx="182880" cy="182880"/>
          </a:xfrm>
          <a:prstGeom prst="rect">
            <a:avLst/>
          </a:prstGeom>
        </p:spPr>
      </p:pic>
      <p:pic>
        <p:nvPicPr>
          <p:cNvPr id="24" name="Image 5" descr="icons/cli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468" y="142646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20624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9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4206240" y="200253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CDM derives the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requirements from the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policy prose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4206240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0D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BUILT</a:t>
            </a:r>
            <a:endParaRPr lang="en-US" sz="650" dirty="0"/>
          </a:p>
        </p:txBody>
      </p:sp>
      <p:sp>
        <p:nvSpPr>
          <p:cNvPr id="28" name="Shape 20"/>
          <p:cNvSpPr/>
          <p:nvPr/>
        </p:nvSpPr>
        <p:spPr>
          <a:xfrm>
            <a:off x="5601614" y="2121408"/>
            <a:ext cx="94183" cy="0"/>
          </a:xfrm>
          <a:prstGeom prst="line">
            <a:avLst/>
          </a:prstGeom>
          <a:noFill/>
          <a:ln w="12700">
            <a:solidFill>
              <a:srgbClr val="9FA1B2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5719572" y="1243584"/>
            <a:ext cx="1463040" cy="1755648"/>
          </a:xfrm>
          <a:prstGeom prst="roundRect">
            <a:avLst>
              <a:gd name="adj" fmla="val 3750"/>
            </a:avLst>
          </a:prstGeom>
          <a:solidFill>
            <a:srgbClr val="1D1D1D"/>
          </a:solidFill>
          <a:ln w="9525">
            <a:solidFill>
              <a:srgbClr val="2A2A32"/>
            </a:solidFill>
            <a:prstDash val="solid"/>
          </a:ln>
        </p:spPr>
      </p:sp>
      <p:pic>
        <p:nvPicPr>
          <p:cNvPr id="30" name="Image 6" descr="icons/bo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76" y="1426464"/>
            <a:ext cx="182880" cy="182880"/>
          </a:xfrm>
          <a:prstGeom prst="rect">
            <a:avLst/>
          </a:prstGeom>
        </p:spPr>
      </p:pic>
      <p:pic>
        <p:nvPicPr>
          <p:cNvPr id="31" name="Image 7" descr="icons/sparkl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9652" y="1426464"/>
            <a:ext cx="182880" cy="182880"/>
          </a:xfrm>
          <a:prstGeom prst="rect">
            <a:avLst/>
          </a:prstGeom>
        </p:spPr>
      </p:pic>
      <p:pic>
        <p:nvPicPr>
          <p:cNvPr id="32" name="Image 8" descr="icons/user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828" y="1426464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811012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9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CDEs &amp; columns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811012" y="200253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Drafted from standards;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CDM discovers the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physical columns</a:t>
            </a:r>
            <a:endParaRPr lang="en-US" sz="800" dirty="0"/>
          </a:p>
        </p:txBody>
      </p:sp>
      <p:sp>
        <p:nvSpPr>
          <p:cNvPr id="35" name="Text 24"/>
          <p:cNvSpPr txBox="1"/>
          <p:nvPr/>
        </p:nvSpPr>
        <p:spPr>
          <a:xfrm>
            <a:off x="5811012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9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PARTIAL</a:t>
            </a:r>
            <a:endParaRPr lang="en-US" sz="650" dirty="0"/>
          </a:p>
        </p:txBody>
      </p:sp>
      <p:sp>
        <p:nvSpPr>
          <p:cNvPr id="36" name="Shape 25"/>
          <p:cNvSpPr/>
          <p:nvPr/>
        </p:nvSpPr>
        <p:spPr>
          <a:xfrm>
            <a:off x="7206386" y="2121408"/>
            <a:ext cx="94183" cy="0"/>
          </a:xfrm>
          <a:prstGeom prst="line">
            <a:avLst/>
          </a:prstGeom>
          <a:noFill/>
          <a:ln w="12700">
            <a:solidFill>
              <a:srgbClr val="9FA1B2"/>
            </a:solidFill>
            <a:prstDash val="solid"/>
            <a:tailEnd type="triangle"/>
          </a:ln>
        </p:spPr>
      </p:sp>
      <p:sp>
        <p:nvSpPr>
          <p:cNvPr id="37" name="Shape 26"/>
          <p:cNvSpPr/>
          <p:nvPr/>
        </p:nvSpPr>
        <p:spPr>
          <a:xfrm>
            <a:off x="7324344" y="1243584"/>
            <a:ext cx="1463040" cy="1755648"/>
          </a:xfrm>
          <a:prstGeom prst="roundRect">
            <a:avLst>
              <a:gd name="adj" fmla="val 3750"/>
            </a:avLst>
          </a:prstGeom>
          <a:solidFill>
            <a:srgbClr val="1D1D1D"/>
          </a:solidFill>
          <a:ln w="9525">
            <a:solidFill>
              <a:srgbClr val="FF9900"/>
            </a:solidFill>
            <a:prstDash val="dash"/>
          </a:ln>
        </p:spPr>
      </p:sp>
      <p:pic>
        <p:nvPicPr>
          <p:cNvPr id="38" name="Image 9" descr="icons/bo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1836" y="1426464"/>
            <a:ext cx="182880" cy="182880"/>
          </a:xfrm>
          <a:prstGeom prst="rect">
            <a:avLst/>
          </a:prstGeom>
        </p:spPr>
      </p:pic>
      <p:pic>
        <p:nvPicPr>
          <p:cNvPr id="39" name="Image 10" descr="icons/user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7012" y="1426464"/>
            <a:ext cx="182880" cy="18288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7415784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F9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 monitors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7415784" y="200253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Rules and thresholds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 the elements that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carry the risk</a:t>
            </a:r>
            <a:endParaRPr lang="en-US" sz="800" dirty="0"/>
          </a:p>
        </p:txBody>
      </p:sp>
      <p:sp>
        <p:nvSpPr>
          <p:cNvPr id="42" name="Text 29"/>
          <p:cNvSpPr txBox="1"/>
          <p:nvPr/>
        </p:nvSpPr>
        <p:spPr>
          <a:xfrm>
            <a:off x="7415784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99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NEXT</a:t>
            </a:r>
            <a:endParaRPr lang="en-US" sz="650" dirty="0"/>
          </a:p>
        </p:txBody>
      </p:sp>
      <p:sp>
        <p:nvSpPr>
          <p:cNvPr id="43" name="Shape 30"/>
          <p:cNvSpPr/>
          <p:nvPr/>
        </p:nvSpPr>
        <p:spPr>
          <a:xfrm>
            <a:off x="8055864" y="2999232"/>
            <a:ext cx="0" cy="384048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1636776" y="3383280"/>
            <a:ext cx="6419088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1636776" y="2999232"/>
            <a:ext cx="0" cy="384048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  <a:headEnd type="triangle"/>
            <a:tailEnd type="none"/>
          </a:ln>
        </p:spPr>
      </p:sp>
      <p:sp>
        <p:nvSpPr>
          <p:cNvPr id="46" name="Shape 33"/>
          <p:cNvSpPr/>
          <p:nvPr/>
        </p:nvSpPr>
        <p:spPr>
          <a:xfrm>
            <a:off x="3154680" y="3246120"/>
            <a:ext cx="3383280" cy="274320"/>
          </a:xfrm>
          <a:prstGeom prst="rect">
            <a:avLst/>
          </a:prstGeom>
          <a:solidFill>
            <a:srgbClr val="14141A"/>
          </a:solidFill>
          <a:ln w="12700">
            <a:solidFill>
              <a:srgbClr val="14141A"/>
            </a:solidFill>
            <a:prstDash val="solid"/>
          </a:ln>
        </p:spPr>
      </p:sp>
      <p:pic>
        <p:nvPicPr>
          <p:cNvPr id="47" name="Image 11" descr="icons/lo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5576" y="3296412"/>
            <a:ext cx="173736" cy="173736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3703320" y="32461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analysis re-runs — the loop starts over</a:t>
            </a:r>
            <a:endParaRPr lang="en-US" sz="850" dirty="0"/>
          </a:p>
        </p:txBody>
      </p:sp>
      <p:pic>
        <p:nvPicPr>
          <p:cNvPr id="49" name="Image 12" descr="icons/bo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" y="4059936"/>
            <a:ext cx="146304" cy="146304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124712" y="4032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agent</a:t>
            </a:r>
            <a:endParaRPr lang="en-US" sz="750" dirty="0"/>
          </a:p>
        </p:txBody>
      </p:sp>
      <p:pic>
        <p:nvPicPr>
          <p:cNvPr id="51" name="Image 13" descr="icons/sparkl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5456" y="4059936"/>
            <a:ext cx="146304" cy="146304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2697480" y="4032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Alation AI</a:t>
            </a:r>
            <a:endParaRPr lang="en-US" sz="750" dirty="0"/>
          </a:p>
        </p:txBody>
      </p:sp>
      <p:pic>
        <p:nvPicPr>
          <p:cNvPr id="53" name="Image 14" descr="icons/user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78224" y="4059936"/>
            <a:ext cx="146304" cy="146304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4270248" y="4032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Human approves</a:t>
            </a:r>
            <a:endParaRPr lang="en-US" sz="750" dirty="0"/>
          </a:p>
        </p:txBody>
      </p:sp>
      <p:pic>
        <p:nvPicPr>
          <p:cNvPr id="55" name="Image 15" descr="icons/cli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50992" y="4059936"/>
            <a:ext cx="146304" cy="14630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843016" y="4032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Human in the UI</a:t>
            </a:r>
            <a:endParaRPr lang="en-US" sz="750" dirty="0"/>
          </a:p>
        </p:txBody>
      </p:sp>
      <p:sp>
        <p:nvSpPr>
          <p:cNvPr id="57" name="Text 39"/>
          <p:cNvSpPr txBox="1"/>
          <p:nvPr/>
        </p:nvSpPr>
        <p:spPr>
          <a:xfrm>
            <a:off x="6446520" y="40325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FA1B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Setup may be scripted. The end-to-end experience is in the UI.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2026-09-02T17:40:03Z</dcterms:created>
  <dcterms:modified xsi:type="dcterms:W3CDTF">2026-09-02T17:40:03Z</dcterms:modified>
</cp:coreProperties>
</file>